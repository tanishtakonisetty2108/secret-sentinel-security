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4910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FWHITE_MASTER">
    <p:bg>
      <p:bgPr>
        <a:solidFill>
          <a:srgbClr val="F5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8890">
            <a:solidFill>
              <a:srgbClr val="D8D0C8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6F69"/>
                </a:solidFill>
                <a:latin typeface="Lato"/>
                <a:ea typeface="Lato"/>
                <a:cs typeface="Lato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6F69"/>
                </a:solidFill>
                <a:latin typeface="Lato"/>
                <a:ea typeface="Lato"/>
                <a:cs typeface="Lato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303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kern="0" spc="40" dirty="0">
                <a:solidFill>
                  <a:srgbClr val="3F3533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ENGINEERS INNOVATION CHALLENGE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58368" y="1314078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rgbClr val="111111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SECRET SENTINEL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58368" y="1993392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756B6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From Secret Detection to Exposure </a:t>
            </a:r>
            <a:r>
              <a:rPr lang="en-US" sz="1900" dirty="0">
                <a:solidFill>
                  <a:srgbClr val="756B66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Intelligence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58368" y="2670048"/>
            <a:ext cx="2331720" cy="310896"/>
          </a:xfrm>
          <a:prstGeom prst="roundRect">
            <a:avLst>
              <a:gd name="adj" fmla="val 23529"/>
            </a:avLst>
          </a:prstGeom>
          <a:solidFill>
            <a:srgbClr val="3F3533"/>
          </a:solidFill>
          <a:ln w="12700">
            <a:solidFill>
              <a:srgbClr val="3F3533"/>
            </a:solidFill>
            <a:prstDash val="solid"/>
          </a:ln>
          <a:effectLst>
            <a:outerShdw blurRad="12700" dist="50800" dir="2700000" algn="bl" rotWithShape="0">
              <a:srgbClr val="B9B0A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8368" y="267919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TEAM • PITCHER PERFECT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94944" y="4416552"/>
            <a:ext cx="768096" cy="768096"/>
          </a:xfrm>
          <a:prstGeom prst="ellipse">
            <a:avLst/>
          </a:prstGeom>
          <a:solidFill>
            <a:srgbClr val="3F3533"/>
          </a:solidFill>
          <a:ln w="12700">
            <a:solidFill>
              <a:srgbClr val="3F35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45902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7512" y="52395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F35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CODE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463040" y="4800600"/>
            <a:ext cx="1975104" cy="0"/>
          </a:xfrm>
          <a:prstGeom prst="line">
            <a:avLst/>
          </a:prstGeom>
          <a:noFill/>
          <a:ln w="13970">
            <a:solidFill>
              <a:srgbClr val="BDB3A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38144" y="4416552"/>
            <a:ext cx="768096" cy="768096"/>
          </a:xfrm>
          <a:prstGeom prst="ellipse">
            <a:avLst/>
          </a:prstGeom>
          <a:solidFill>
            <a:srgbClr val="C73333"/>
          </a:solidFill>
          <a:ln w="12700">
            <a:solidFill>
              <a:srgbClr val="C7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93592" y="45902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10712" y="52395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F35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SCAN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06240" y="4800600"/>
            <a:ext cx="1975104" cy="0"/>
          </a:xfrm>
          <a:prstGeom prst="line">
            <a:avLst/>
          </a:prstGeom>
          <a:noFill/>
          <a:ln w="13970">
            <a:solidFill>
              <a:srgbClr val="BDB3A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81344" y="4416552"/>
            <a:ext cx="768096" cy="768096"/>
          </a:xfrm>
          <a:prstGeom prst="ellipse">
            <a:avLst/>
          </a:prstGeom>
          <a:solidFill>
            <a:srgbClr val="C6871F"/>
          </a:solidFill>
          <a:ln w="12700">
            <a:solidFill>
              <a:srgbClr val="C687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36792" y="45902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153912" y="52395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F35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RISK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49440" y="4800600"/>
            <a:ext cx="1975104" cy="0"/>
          </a:xfrm>
          <a:prstGeom prst="line">
            <a:avLst/>
          </a:prstGeom>
          <a:noFill/>
          <a:ln w="13970">
            <a:solidFill>
              <a:srgbClr val="BDB3A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24544" y="4416552"/>
            <a:ext cx="768096" cy="768096"/>
          </a:xfrm>
          <a:prstGeom prst="ellipse">
            <a:avLst/>
          </a:prstGeom>
          <a:solidFill>
            <a:srgbClr val="3D7B58"/>
          </a:solidFill>
          <a:ln w="12700">
            <a:solidFill>
              <a:srgbClr val="3D7B5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79992" y="45902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897112" y="52395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F35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BLOCK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8368" y="598932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756B6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Developer-side </a:t>
            </a:r>
            <a:r>
              <a:rPr lang="en-US" sz="1300" dirty="0">
                <a:solidFill>
                  <a:srgbClr val="756B66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prevention</a:t>
            </a:r>
            <a:r>
              <a:rPr lang="en-US" sz="1300" dirty="0">
                <a:solidFill>
                  <a:srgbClr val="756B6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+ security dashboard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1792" y="651967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756B6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PITCHER PERFECT • </a:t>
            </a:r>
            <a:r>
              <a:rPr lang="en-US" sz="850" b="1" dirty="0">
                <a:solidFill>
                  <a:srgbClr val="756B66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SECRET</a:t>
            </a:r>
            <a:r>
              <a:rPr lang="en-US" sz="850" b="1" dirty="0">
                <a:solidFill>
                  <a:srgbClr val="756B6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SENTINEL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6F69"/>
                </a:solidFill>
                <a:latin typeface="Lato"/>
                <a:ea typeface="Lato"/>
                <a:cs typeface="Lato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840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60" dirty="0">
                <a:solidFill>
                  <a:srgbClr val="3F3533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01 • PROBLEM UNDERSTANDING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21792" y="71323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dirty="0">
                <a:solidFill>
                  <a:srgbClr val="111111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Secrets can escape before teams notice</a:t>
            </a: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21792" y="129844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756B66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A developer may commit a credential into source code and discover the exposure only after it reaches a repository.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21792" y="2084832"/>
            <a:ext cx="384048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8D1CA"/>
            </a:solidFill>
            <a:prstDash val="solid"/>
          </a:ln>
          <a:effectLst>
            <a:outerShdw blurRad="12700" dist="50800" dir="2700000" algn="bl" rotWithShape="0">
              <a:srgbClr val="B9B0A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139696"/>
            <a:ext cx="402336" cy="402336"/>
          </a:xfrm>
          <a:prstGeom prst="ellipse">
            <a:avLst/>
          </a:prstGeom>
          <a:solidFill>
            <a:srgbClr val="C73333"/>
          </a:solidFill>
          <a:ln w="12700">
            <a:solidFill>
              <a:srgbClr val="C7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139696"/>
            <a:ext cx="219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!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98448" y="213969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11111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Who is affected?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64692" y="2738628"/>
            <a:ext cx="64008" cy="64008"/>
          </a:xfrm>
          <a:prstGeom prst="ellipse">
            <a:avLst/>
          </a:prstGeom>
          <a:solidFill>
            <a:srgbClr val="3F3533"/>
          </a:solidFill>
          <a:ln w="12700">
            <a:solidFill>
              <a:srgbClr val="3F35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670048"/>
            <a:ext cx="2990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F3533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Developers writing or reviewing code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64692" y="3122676"/>
            <a:ext cx="64008" cy="64008"/>
          </a:xfrm>
          <a:prstGeom prst="ellipse">
            <a:avLst/>
          </a:prstGeom>
          <a:solidFill>
            <a:srgbClr val="3F3533"/>
          </a:solidFill>
          <a:ln w="12700">
            <a:solidFill>
              <a:srgbClr val="3F35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054096"/>
            <a:ext cx="2990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F3533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DevOps / platform teams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64692" y="3506724"/>
            <a:ext cx="64008" cy="64008"/>
          </a:xfrm>
          <a:prstGeom prst="ellipse">
            <a:avLst/>
          </a:prstGeom>
          <a:solidFill>
            <a:srgbClr val="3F3533"/>
          </a:solidFill>
          <a:ln w="12700">
            <a:solidFill>
              <a:srgbClr val="3F35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438144"/>
            <a:ext cx="2990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F3533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Security teams handling incidents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 flipH="1">
            <a:off x="971852" y="3822192"/>
            <a:ext cx="45719" cy="45719"/>
          </a:xfrm>
          <a:prstGeom prst="ellipse">
            <a:avLst/>
          </a:prstGeom>
          <a:solidFill>
            <a:srgbClr val="3F3533"/>
          </a:solidFill>
          <a:ln w="12700">
            <a:solidFill>
              <a:srgbClr val="3F35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3822192"/>
            <a:ext cx="2990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F3533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Companies that ship APIs, apps or cloud workloads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32688" y="437083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50" dirty="0">
                <a:solidFill>
                  <a:srgbClr val="C7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REAL STATISTIC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32688" y="4617720"/>
            <a:ext cx="31272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F35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15% of commit authors leaked a secret in </a:t>
            </a:r>
            <a:r>
              <a:rPr lang="en-US" sz="1800" b="1" dirty="0">
                <a:solidFill>
                  <a:srgbClr val="3F3533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2024</a:t>
            </a:r>
            <a:r>
              <a:rPr lang="en-US" sz="1800" b="1" dirty="0">
                <a:solidFill>
                  <a:srgbClr val="3F35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32688" y="51206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756B66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GitGuardian • State of Secrets Sprawl 2025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36592" y="1920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F35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Typical failure path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754880" y="2423160"/>
            <a:ext cx="1417320" cy="841248"/>
          </a:xfrm>
          <a:prstGeom prst="roundRect">
            <a:avLst>
              <a:gd name="adj" fmla="val 13043"/>
            </a:avLst>
          </a:prstGeom>
          <a:solidFill>
            <a:srgbClr val="F5D8D8"/>
          </a:solidFill>
          <a:ln w="12700">
            <a:solidFill>
              <a:srgbClr val="C73333"/>
            </a:solidFill>
            <a:prstDash val="solid"/>
          </a:ln>
          <a:effectLst>
            <a:outerShdw blurRad="12700" dist="50800" dir="2700000" algn="bl" rotWithShape="0">
              <a:srgbClr val="B9B0AA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261518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Hardcoded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secret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72200" y="2843784"/>
            <a:ext cx="347472" cy="0"/>
          </a:xfrm>
          <a:prstGeom prst="line">
            <a:avLst/>
          </a:prstGeom>
          <a:noFill/>
          <a:ln w="20320">
            <a:solidFill>
              <a:srgbClr val="8E847E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537960" y="2423160"/>
            <a:ext cx="1417320" cy="841248"/>
          </a:xfrm>
          <a:prstGeom prst="roundRect">
            <a:avLst>
              <a:gd name="adj" fmla="val 13043"/>
            </a:avLst>
          </a:prstGeom>
          <a:solidFill>
            <a:srgbClr val="FBFAF8"/>
          </a:solidFill>
          <a:ln w="12700">
            <a:solidFill>
              <a:srgbClr val="3F3533"/>
            </a:solidFill>
            <a:prstDash val="solid"/>
          </a:ln>
          <a:effectLst>
            <a:outerShdw blurRad="12700" dist="50800" dir="2700000" algn="bl" rotWithShape="0">
              <a:srgbClr val="B9B0AA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37960" y="261518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git commit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955280" y="2843784"/>
            <a:ext cx="347472" cy="0"/>
          </a:xfrm>
          <a:prstGeom prst="line">
            <a:avLst/>
          </a:prstGeom>
          <a:noFill/>
          <a:ln w="20320">
            <a:solidFill>
              <a:srgbClr val="8E847E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321040" y="2423160"/>
            <a:ext cx="1417320" cy="841248"/>
          </a:xfrm>
          <a:prstGeom prst="roundRect">
            <a:avLst>
              <a:gd name="adj" fmla="val 13043"/>
            </a:avLst>
          </a:prstGeom>
          <a:solidFill>
            <a:srgbClr val="F4E9CF"/>
          </a:solidFill>
          <a:ln w="12700">
            <a:solidFill>
              <a:srgbClr val="C6871F"/>
            </a:solidFill>
            <a:prstDash val="solid"/>
          </a:ln>
          <a:effectLst>
            <a:outerShdw blurRad="12700" dist="50800" dir="2700000" algn="bl" rotWithShape="0">
              <a:srgbClr val="B9B0AA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321040" y="261518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Repository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738360" y="2843784"/>
            <a:ext cx="347472" cy="0"/>
          </a:xfrm>
          <a:prstGeom prst="line">
            <a:avLst/>
          </a:prstGeom>
          <a:noFill/>
          <a:ln w="20320">
            <a:solidFill>
              <a:srgbClr val="8E847E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0104120" y="2423160"/>
            <a:ext cx="1417320" cy="841248"/>
          </a:xfrm>
          <a:prstGeom prst="roundRect">
            <a:avLst>
              <a:gd name="adj" fmla="val 13043"/>
            </a:avLst>
          </a:prstGeom>
          <a:solidFill>
            <a:srgbClr val="F5D8D8"/>
          </a:solidFill>
          <a:ln w="12700">
            <a:solidFill>
              <a:srgbClr val="C73333"/>
            </a:solidFill>
            <a:prstDash val="solid"/>
          </a:ln>
          <a:effectLst>
            <a:outerShdw blurRad="12700" dist="50800" dir="2700000" algn="bl" rotWithShape="0">
              <a:srgbClr val="B9B0AA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0104120" y="261518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Exposure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discovered late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736592" y="3547872"/>
            <a:ext cx="6766560" cy="1984248"/>
          </a:xfrm>
          <a:prstGeom prst="roundRect">
            <a:avLst>
              <a:gd name="adj" fmla="val 5530"/>
            </a:avLst>
          </a:prstGeom>
          <a:solidFill>
            <a:srgbClr val="FFFFFF"/>
          </a:solidFill>
          <a:ln w="12700">
            <a:solidFill>
              <a:srgbClr val="D8D1CA"/>
            </a:solidFill>
            <a:prstDash val="solid"/>
          </a:ln>
          <a:effectLst>
            <a:outerShdw blurRad="12700" dist="50800" dir="2700000" algn="bl" rotWithShape="0">
              <a:srgbClr val="B9B0AA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992624" y="3758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F35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What exists today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024628" y="4192524"/>
            <a:ext cx="64008" cy="64008"/>
          </a:xfrm>
          <a:prstGeom prst="ellipse">
            <a:avLst/>
          </a:prstGeom>
          <a:solidFill>
            <a:srgbClr val="3F3533"/>
          </a:solidFill>
          <a:ln w="12700">
            <a:solidFill>
              <a:srgbClr val="3F35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57216" y="4123944"/>
            <a:ext cx="2715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3F35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Repository secret scanning &amp; push protection</a:t>
            </a:r>
            <a:endParaRPr lang="en-US" sz="1280" dirty="0"/>
          </a:p>
        </p:txBody>
      </p:sp>
      <p:sp>
        <p:nvSpPr>
          <p:cNvPr id="36" name="Shape 34"/>
          <p:cNvSpPr/>
          <p:nvPr/>
        </p:nvSpPr>
        <p:spPr>
          <a:xfrm>
            <a:off x="5024628" y="4521708"/>
            <a:ext cx="64008" cy="64008"/>
          </a:xfrm>
          <a:prstGeom prst="ellipse">
            <a:avLst/>
          </a:prstGeom>
          <a:solidFill>
            <a:srgbClr val="3F3533"/>
          </a:solidFill>
          <a:ln w="12700">
            <a:solidFill>
              <a:srgbClr val="3F35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57216" y="4453128"/>
            <a:ext cx="2715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3F35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Local pre-commit scanners</a:t>
            </a:r>
            <a:endParaRPr lang="en-US" sz="1280" dirty="0"/>
          </a:p>
        </p:txBody>
      </p:sp>
      <p:sp>
        <p:nvSpPr>
          <p:cNvPr id="38" name="Shape 36"/>
          <p:cNvSpPr/>
          <p:nvPr/>
        </p:nvSpPr>
        <p:spPr>
          <a:xfrm>
            <a:off x="5024628" y="4850892"/>
            <a:ext cx="64008" cy="64008"/>
          </a:xfrm>
          <a:prstGeom prst="ellipse">
            <a:avLst/>
          </a:prstGeom>
          <a:solidFill>
            <a:srgbClr val="3F3533"/>
          </a:solidFill>
          <a:ln w="12700">
            <a:solidFill>
              <a:srgbClr val="3F35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57216" y="4782312"/>
            <a:ext cx="2715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3F35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Secrets managers / environment variables</a:t>
            </a:r>
            <a:endParaRPr lang="en-US" sz="1280" dirty="0"/>
          </a:p>
        </p:txBody>
      </p:sp>
      <p:sp>
        <p:nvSpPr>
          <p:cNvPr id="40" name="Text 38"/>
          <p:cNvSpPr/>
          <p:nvPr/>
        </p:nvSpPr>
        <p:spPr>
          <a:xfrm>
            <a:off x="8001000" y="37581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7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Gaps we target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8033004" y="4192524"/>
            <a:ext cx="64008" cy="64008"/>
          </a:xfrm>
          <a:prstGeom prst="ellipse">
            <a:avLst/>
          </a:prstGeom>
          <a:solidFill>
            <a:srgbClr val="3F3533"/>
          </a:solidFill>
          <a:ln w="12700">
            <a:solidFill>
              <a:srgbClr val="3F35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65592" y="4123944"/>
            <a:ext cx="2898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3F35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False positives without enough context</a:t>
            </a:r>
            <a:endParaRPr lang="en-US" sz="1280" dirty="0"/>
          </a:p>
        </p:txBody>
      </p:sp>
      <p:sp>
        <p:nvSpPr>
          <p:cNvPr id="43" name="Shape 41"/>
          <p:cNvSpPr/>
          <p:nvPr/>
        </p:nvSpPr>
        <p:spPr>
          <a:xfrm>
            <a:off x="8033004" y="4521708"/>
            <a:ext cx="64008" cy="64008"/>
          </a:xfrm>
          <a:prstGeom prst="ellipse">
            <a:avLst/>
          </a:prstGeom>
          <a:solidFill>
            <a:srgbClr val="3F3533"/>
          </a:solidFill>
          <a:ln w="12700">
            <a:solidFill>
              <a:srgbClr val="3F35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65592" y="4453128"/>
            <a:ext cx="2898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3F35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Little visibility across the same secret</a:t>
            </a:r>
            <a:endParaRPr lang="en-US" sz="1280" dirty="0"/>
          </a:p>
        </p:txBody>
      </p:sp>
      <p:sp>
        <p:nvSpPr>
          <p:cNvPr id="45" name="Shape 43"/>
          <p:cNvSpPr/>
          <p:nvPr/>
        </p:nvSpPr>
        <p:spPr>
          <a:xfrm>
            <a:off x="8033004" y="4850892"/>
            <a:ext cx="64008" cy="64008"/>
          </a:xfrm>
          <a:prstGeom prst="ellipse">
            <a:avLst/>
          </a:prstGeom>
          <a:solidFill>
            <a:srgbClr val="3F3533"/>
          </a:solidFill>
          <a:ln w="12700">
            <a:solidFill>
              <a:srgbClr val="3F35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165592" y="4782312"/>
            <a:ext cx="2898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3F35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Weak view of exposure + history</a:t>
            </a:r>
            <a:endParaRPr lang="en-US" sz="1280" dirty="0"/>
          </a:p>
        </p:txBody>
      </p:sp>
      <p:sp>
        <p:nvSpPr>
          <p:cNvPr id="47" name="Text 45"/>
          <p:cNvSpPr/>
          <p:nvPr/>
        </p:nvSpPr>
        <p:spPr>
          <a:xfrm>
            <a:off x="621792" y="608076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30" i="1" dirty="0">
                <a:solidFill>
                  <a:srgbClr val="756B6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Source: GitGuardian, State of Secrets Sprawl 2025.</a:t>
            </a:r>
            <a:endParaRPr lang="en-US" sz="830" dirty="0"/>
          </a:p>
        </p:txBody>
      </p:sp>
      <p:sp>
        <p:nvSpPr>
          <p:cNvPr id="48" name="Text 46"/>
          <p:cNvSpPr/>
          <p:nvPr/>
        </p:nvSpPr>
        <p:spPr>
          <a:xfrm>
            <a:off x="621792" y="651967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756B6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PITCHER PERFECT • SECRET SENTINEL</a:t>
            </a:r>
            <a:endParaRPr lang="en-US" sz="85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6F69"/>
                </a:solidFill>
                <a:latin typeface="Lato"/>
                <a:ea typeface="Lato"/>
                <a:cs typeface="Lato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840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60" dirty="0">
                <a:solidFill>
                  <a:srgbClr val="3F35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02 • PROPOSED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71323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dirty="0">
                <a:solidFill>
                  <a:srgbClr val="111111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Stop the secret before it leaves the developer machine</a:t>
            </a: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21792" y="129844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756B66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Secret Sentinel combines detection, risk scoring and Git enforcement, then records the event in one dashboard.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783080" cy="310896"/>
          </a:xfrm>
          <a:prstGeom prst="roundRect">
            <a:avLst>
              <a:gd name="adj" fmla="val 23529"/>
            </a:avLst>
          </a:prstGeom>
          <a:solidFill>
            <a:srgbClr val="3F3533"/>
          </a:solidFill>
          <a:ln w="12700">
            <a:solidFill>
              <a:srgbClr val="3F3533"/>
            </a:solidFill>
            <a:prstDash val="solid"/>
          </a:ln>
          <a:effectLst>
            <a:outerShdw blurRad="12700" dist="50800" dir="2700000" algn="bl" rotWithShape="0">
              <a:srgbClr val="B9B0A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88366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ONE-LINE SOLUTION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606040" y="1856232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11111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Detect → Explain → Decide → Prevent → Track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13232" y="2907792"/>
            <a:ext cx="1600200" cy="960120"/>
          </a:xfrm>
          <a:prstGeom prst="roundRect">
            <a:avLst>
              <a:gd name="adj" fmla="val 11429"/>
            </a:avLst>
          </a:prstGeom>
          <a:solidFill>
            <a:srgbClr val="FBFAF8"/>
          </a:solidFill>
          <a:ln w="12700">
            <a:solidFill>
              <a:srgbClr val="3F3533"/>
            </a:solidFill>
            <a:prstDash val="solid"/>
          </a:ln>
          <a:effectLst>
            <a:outerShdw blurRad="12700" dist="50800" dir="2700000" algn="bl" rotWithShape="0">
              <a:srgbClr val="B9B0AA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713232" y="3154680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111111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CODE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HANGE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313432" y="3383280"/>
            <a:ext cx="320040" cy="0"/>
          </a:xfrm>
          <a:prstGeom prst="line">
            <a:avLst/>
          </a:prstGeom>
          <a:noFill/>
          <a:ln w="20320">
            <a:solidFill>
              <a:srgbClr val="8A807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610612" y="2898648"/>
            <a:ext cx="1600200" cy="960120"/>
          </a:xfrm>
          <a:prstGeom prst="roundRect">
            <a:avLst>
              <a:gd name="adj" fmla="val 11429"/>
            </a:avLst>
          </a:prstGeom>
          <a:solidFill>
            <a:srgbClr val="FBFAF8"/>
          </a:solidFill>
          <a:ln w="12700">
            <a:solidFill>
              <a:srgbClr val="C73333"/>
            </a:solidFill>
            <a:prstDash val="solid"/>
          </a:ln>
          <a:effectLst>
            <a:outerShdw blurRad="12700" dist="50800" dir="2700000" algn="bl" rotWithShape="0">
              <a:srgbClr val="B9B0AA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33472" y="3154680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PATTERN +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ENTROPY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233672" y="3383280"/>
            <a:ext cx="320040" cy="0"/>
          </a:xfrm>
          <a:prstGeom prst="line">
            <a:avLst/>
          </a:prstGeom>
          <a:noFill/>
          <a:ln w="20320">
            <a:solidFill>
              <a:srgbClr val="8A807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553712" y="2907792"/>
            <a:ext cx="1600200" cy="960120"/>
          </a:xfrm>
          <a:prstGeom prst="roundRect">
            <a:avLst>
              <a:gd name="adj" fmla="val 11429"/>
            </a:avLst>
          </a:prstGeom>
          <a:solidFill>
            <a:srgbClr val="FBFAF8"/>
          </a:solidFill>
          <a:ln w="12700">
            <a:solidFill>
              <a:srgbClr val="C6871F"/>
            </a:solidFill>
            <a:prstDash val="solid"/>
          </a:ln>
          <a:effectLst>
            <a:outerShdw blurRad="12700" dist="50800" dir="2700000" algn="bl" rotWithShape="0">
              <a:srgbClr val="B9B0AA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53712" y="3154680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CONTEXT +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CONFIDENCE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153912" y="3383280"/>
            <a:ext cx="320040" cy="0"/>
          </a:xfrm>
          <a:prstGeom prst="line">
            <a:avLst/>
          </a:prstGeom>
          <a:noFill/>
          <a:ln w="20320">
            <a:solidFill>
              <a:srgbClr val="8A807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473952" y="2907792"/>
            <a:ext cx="1600200" cy="960120"/>
          </a:xfrm>
          <a:prstGeom prst="roundRect">
            <a:avLst>
              <a:gd name="adj" fmla="val 11429"/>
            </a:avLst>
          </a:prstGeom>
          <a:solidFill>
            <a:srgbClr val="FBFAF8"/>
          </a:solidFill>
          <a:ln w="12700">
            <a:solidFill>
              <a:srgbClr val="3F3533"/>
            </a:solidFill>
            <a:prstDash val="solid"/>
          </a:ln>
          <a:effectLst>
            <a:outerShdw blurRad="12700" dist="50800" dir="2700000" algn="bl" rotWithShape="0">
              <a:srgbClr val="B9B0AA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73952" y="3154680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RISK +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IMPACT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074152" y="3383280"/>
            <a:ext cx="320040" cy="0"/>
          </a:xfrm>
          <a:prstGeom prst="line">
            <a:avLst/>
          </a:prstGeom>
          <a:noFill/>
          <a:ln w="20320">
            <a:solidFill>
              <a:srgbClr val="8A807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394192" y="2907792"/>
            <a:ext cx="1600200" cy="960120"/>
          </a:xfrm>
          <a:prstGeom prst="roundRect">
            <a:avLst>
              <a:gd name="adj" fmla="val 11429"/>
            </a:avLst>
          </a:prstGeom>
          <a:solidFill>
            <a:srgbClr val="FBFAF8"/>
          </a:solidFill>
          <a:ln w="12700">
            <a:solidFill>
              <a:srgbClr val="3D7B58"/>
            </a:solidFill>
            <a:prstDash val="solid"/>
          </a:ln>
          <a:effectLst>
            <a:outerShdw blurRad="12700" dist="50800" dir="2700000" algn="bl" rotWithShape="0">
              <a:srgbClr val="B9B0AA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94192" y="3154680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BLOCK /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ALLOW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994392" y="3383280"/>
            <a:ext cx="320040" cy="0"/>
          </a:xfrm>
          <a:prstGeom prst="line">
            <a:avLst/>
          </a:prstGeom>
          <a:noFill/>
          <a:ln w="20320">
            <a:solidFill>
              <a:srgbClr val="8A807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314432" y="2907792"/>
            <a:ext cx="1143000" cy="960120"/>
          </a:xfrm>
          <a:prstGeom prst="roundRect">
            <a:avLst>
              <a:gd name="adj" fmla="val 11429"/>
            </a:avLst>
          </a:prstGeom>
          <a:solidFill>
            <a:srgbClr val="FBFAF8"/>
          </a:solidFill>
          <a:ln w="12700">
            <a:solidFill>
              <a:srgbClr val="3F3533"/>
            </a:solidFill>
            <a:prstDash val="solid"/>
          </a:ln>
          <a:effectLst>
            <a:outerShdw blurRad="12700" dist="50800" dir="2700000" algn="bl" rotWithShape="0">
              <a:srgbClr val="B9B0AA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314432" y="3154680"/>
            <a:ext cx="1143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TRACK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EVENT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40080" y="42336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F35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Why our approach is different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331720" y="4544568"/>
            <a:ext cx="1097280" cy="1097280"/>
          </a:xfrm>
          <a:prstGeom prst="ellipse">
            <a:avLst/>
          </a:prstGeom>
          <a:solidFill>
            <a:srgbClr val="3F3533"/>
          </a:solidFill>
          <a:ln w="12700">
            <a:solidFill>
              <a:srgbClr val="3F35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59152" y="4818888"/>
            <a:ext cx="1042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SECRET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INTELLIGENCE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41248" y="4617720"/>
            <a:ext cx="1572768" cy="603504"/>
          </a:xfrm>
          <a:prstGeom prst="roundRect">
            <a:avLst>
              <a:gd name="adj" fmla="val 18182"/>
            </a:avLst>
          </a:prstGeom>
          <a:solidFill>
            <a:srgbClr val="DDEEE4"/>
          </a:solidFill>
          <a:ln w="12700">
            <a:solidFill>
              <a:srgbClr val="3D7B58"/>
            </a:solidFill>
            <a:prstDash val="solid"/>
          </a:ln>
          <a:effectLst>
            <a:outerShdw blurRad="12700" dist="50800" dir="2700000" algn="bl" rotWithShape="0">
              <a:srgbClr val="B9B0AA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41248" y="469087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111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Fingerprint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50" b="1" dirty="0">
                <a:solidFill>
                  <a:srgbClr val="111111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repeat leaks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2414016" y="4919472"/>
            <a:ext cx="0" cy="173736"/>
          </a:xfrm>
          <a:prstGeom prst="line">
            <a:avLst/>
          </a:prstGeom>
          <a:noFill/>
          <a:ln w="12700">
            <a:solidFill>
              <a:srgbClr val="3D7B5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1248" y="5431536"/>
            <a:ext cx="1572768" cy="603504"/>
          </a:xfrm>
          <a:prstGeom prst="roundRect">
            <a:avLst>
              <a:gd name="adj" fmla="val 18182"/>
            </a:avLst>
          </a:prstGeom>
          <a:solidFill>
            <a:srgbClr val="F5D8D8"/>
          </a:solidFill>
          <a:ln w="12700">
            <a:solidFill>
              <a:srgbClr val="C73333"/>
            </a:solidFill>
            <a:prstDash val="solid"/>
          </a:ln>
          <a:effectLst>
            <a:outerShdw blurRad="12700" dist="50800" dir="2700000" algn="bl" rotWithShape="0">
              <a:srgbClr val="B9B0AA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41248" y="550468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111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Exposure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50" b="1" dirty="0">
                <a:solidFill>
                  <a:srgbClr val="111111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timeline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2414016" y="5733288"/>
            <a:ext cx="0" cy="0"/>
          </a:xfrm>
          <a:prstGeom prst="line">
            <a:avLst/>
          </a:prstGeom>
          <a:noFill/>
          <a:ln w="12700">
            <a:solidFill>
              <a:srgbClr val="C7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005072" y="4617720"/>
            <a:ext cx="1572768" cy="603504"/>
          </a:xfrm>
          <a:prstGeom prst="roundRect">
            <a:avLst>
              <a:gd name="adj" fmla="val 18182"/>
            </a:avLst>
          </a:prstGeom>
          <a:solidFill>
            <a:srgbClr val="F4E9CF"/>
          </a:solidFill>
          <a:ln w="12700">
            <a:solidFill>
              <a:srgbClr val="C6871F"/>
            </a:solidFill>
            <a:prstDash val="solid"/>
          </a:ln>
          <a:effectLst>
            <a:outerShdw blurRad="12700" dist="50800" dir="2700000" algn="bl" rotWithShape="0">
              <a:srgbClr val="B9B0AA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005072" y="469087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111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Impact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50" b="1" dirty="0">
                <a:solidFill>
                  <a:srgbClr val="111111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estimate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005072" y="4919472"/>
            <a:ext cx="0" cy="173736"/>
          </a:xfrm>
          <a:prstGeom prst="line">
            <a:avLst/>
          </a:prstGeom>
          <a:noFill/>
          <a:ln w="12700">
            <a:solidFill>
              <a:srgbClr val="C6871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005072" y="5431536"/>
            <a:ext cx="1572768" cy="603504"/>
          </a:xfrm>
          <a:prstGeom prst="roundRect">
            <a:avLst>
              <a:gd name="adj" fmla="val 18182"/>
            </a:avLst>
          </a:prstGeom>
          <a:solidFill>
            <a:srgbClr val="ECE7E2"/>
          </a:solidFill>
          <a:ln w="12700">
            <a:solidFill>
              <a:srgbClr val="3F3533"/>
            </a:solidFill>
            <a:prstDash val="solid"/>
          </a:ln>
          <a:effectLst>
            <a:outerShdw blurRad="12700" dist="50800" dir="2700000" algn="bl" rotWithShape="0">
              <a:srgbClr val="B9B0AA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005072" y="550468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111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Explainable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50" b="1" dirty="0">
                <a:solidFill>
                  <a:srgbClr val="111111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evidence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005072" y="5733288"/>
            <a:ext cx="0" cy="0"/>
          </a:xfrm>
          <a:prstGeom prst="line">
            <a:avLst/>
          </a:prstGeom>
          <a:noFill/>
          <a:ln w="12700">
            <a:solidFill>
              <a:srgbClr val="3F35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82512" y="4617720"/>
            <a:ext cx="1572768" cy="603504"/>
          </a:xfrm>
          <a:prstGeom prst="roundRect">
            <a:avLst>
              <a:gd name="adj" fmla="val 18182"/>
            </a:avLst>
          </a:prstGeom>
          <a:solidFill>
            <a:srgbClr val="ECE7E2"/>
          </a:solidFill>
          <a:ln w="12700">
            <a:solidFill>
              <a:srgbClr val="3F3533"/>
            </a:solidFill>
            <a:prstDash val="solid"/>
          </a:ln>
          <a:effectLst>
            <a:outerShdw blurRad="12700" dist="50800" dir="2700000" algn="bl" rotWithShape="0">
              <a:srgbClr val="B9B0AA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382512" y="469087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111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Current vs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50" b="1" dirty="0">
                <a:solidFill>
                  <a:srgbClr val="111111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historical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4005072" y="4919472"/>
            <a:ext cx="0" cy="173736"/>
          </a:xfrm>
          <a:prstGeom prst="line">
            <a:avLst/>
          </a:prstGeom>
          <a:noFill/>
          <a:ln w="12700">
            <a:solidFill>
              <a:srgbClr val="3F35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82512" y="5431536"/>
            <a:ext cx="1572768" cy="603504"/>
          </a:xfrm>
          <a:prstGeom prst="roundRect">
            <a:avLst>
              <a:gd name="adj" fmla="val 18182"/>
            </a:avLst>
          </a:prstGeom>
          <a:solidFill>
            <a:srgbClr val="DDEEE4"/>
          </a:solidFill>
          <a:ln w="12700">
            <a:solidFill>
              <a:srgbClr val="3D7B58"/>
            </a:solidFill>
            <a:prstDash val="solid"/>
          </a:ln>
          <a:effectLst>
            <a:outerShdw blurRad="12700" dist="50800" dir="2700000" algn="bl" rotWithShape="0">
              <a:srgbClr val="B9B0AA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382512" y="550468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111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Secure env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50" b="1" dirty="0">
                <a:solidFill>
                  <a:srgbClr val="111111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reference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4005072" y="5733288"/>
            <a:ext cx="0" cy="0"/>
          </a:xfrm>
          <a:prstGeom prst="line">
            <a:avLst/>
          </a:prstGeom>
          <a:noFill/>
          <a:ln w="12700">
            <a:solidFill>
              <a:srgbClr val="3D7B5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183880" y="4636008"/>
            <a:ext cx="301752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3F3533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Differentiator: we treat a secret as an exposure event — not just a matching string.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621792" y="651967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756B6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PITCHER PERFECT • SECRET SENTINEL</a:t>
            </a:r>
            <a:endParaRPr lang="en-US" sz="85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6F69"/>
                </a:solidFill>
                <a:latin typeface="Lato"/>
                <a:ea typeface="Lato"/>
                <a:cs typeface="Lato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840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60" dirty="0">
                <a:solidFill>
                  <a:srgbClr val="3F3533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03 • TECHNICAL ARCHITECTURE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21792" y="71323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dirty="0">
                <a:solidFill>
                  <a:srgbClr val="111111"/>
                </a:solidFill>
                <a:latin typeface="\"/>
                <a:ea typeface="Lato" pitchFamily="34" charset="-122"/>
                <a:cs typeface="Times New Roman" panose="02020603050405020304" pitchFamily="18" charset="0"/>
              </a:rPr>
              <a:t>Simple stack, clear data flow</a:t>
            </a:r>
            <a:endParaRPr lang="en-US" sz="2900" dirty="0">
              <a:latin typeface="\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21792" y="129844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756B66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The MVP keeps the security engine close to Git while the dashboard turns scan results into usable security intelligence.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21792" y="1920240"/>
            <a:ext cx="7360920" cy="530352"/>
          </a:xfrm>
          <a:prstGeom prst="roundRect">
            <a:avLst>
              <a:gd name="adj" fmla="val 20690"/>
            </a:avLst>
          </a:prstGeom>
          <a:solidFill>
            <a:srgbClr val="ECE7E2"/>
          </a:solidFill>
          <a:ln w="12700">
            <a:solidFill>
              <a:srgbClr val="3F3533"/>
            </a:solidFill>
            <a:prstDash val="solid"/>
          </a:ln>
          <a:effectLst>
            <a:outerShdw blurRad="12700" dist="50800" dir="2700000" algn="bl" rotWithShape="0">
              <a:srgbClr val="B9B0A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86384" y="196596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F3533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Developer / Git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404872" y="196596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11111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Code change → pre-commit hook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302252" y="2450592"/>
            <a:ext cx="0" cy="109728"/>
          </a:xfrm>
          <a:prstGeom prst="line">
            <a:avLst/>
          </a:prstGeom>
          <a:noFill/>
          <a:ln w="20320">
            <a:solidFill>
              <a:srgbClr val="8A807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21792" y="2560320"/>
            <a:ext cx="7360920" cy="530352"/>
          </a:xfrm>
          <a:prstGeom prst="roundRect">
            <a:avLst>
              <a:gd name="adj" fmla="val 20690"/>
            </a:avLst>
          </a:prstGeom>
          <a:solidFill>
            <a:srgbClr val="F5D8D8"/>
          </a:solidFill>
          <a:ln w="12700">
            <a:solidFill>
              <a:srgbClr val="C73333"/>
            </a:solidFill>
            <a:prstDash val="solid"/>
          </a:ln>
          <a:effectLst>
            <a:outerShdw blurRad="12700" dist="50800" dir="2700000" algn="bl" rotWithShape="0">
              <a:srgbClr val="B9B0A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86384" y="26060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73333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Scanner Engine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404872" y="260604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11111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File scan → regex → entropy → context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302252" y="3090672"/>
            <a:ext cx="0" cy="109728"/>
          </a:xfrm>
          <a:prstGeom prst="line">
            <a:avLst/>
          </a:prstGeom>
          <a:noFill/>
          <a:ln w="20320">
            <a:solidFill>
              <a:srgbClr val="8A807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21792" y="3200400"/>
            <a:ext cx="7360920" cy="530352"/>
          </a:xfrm>
          <a:prstGeom prst="roundRect">
            <a:avLst>
              <a:gd name="adj" fmla="val 20690"/>
            </a:avLst>
          </a:prstGeom>
          <a:solidFill>
            <a:srgbClr val="F4E9CF"/>
          </a:solidFill>
          <a:ln w="12700">
            <a:solidFill>
              <a:srgbClr val="C6871F"/>
            </a:solidFill>
            <a:prstDash val="solid"/>
          </a:ln>
          <a:effectLst>
            <a:outerShdw blurRad="12700" dist="50800" dir="2700000" algn="bl" rotWithShape="0">
              <a:srgbClr val="B9B0A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86384" y="32461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6871F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Risk Service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404872" y="324612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11111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Confidence → severity → exposure impact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302252" y="3730752"/>
            <a:ext cx="0" cy="109728"/>
          </a:xfrm>
          <a:prstGeom prst="line">
            <a:avLst/>
          </a:prstGeom>
          <a:noFill/>
          <a:ln w="20320">
            <a:solidFill>
              <a:srgbClr val="8A807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21792" y="3840480"/>
            <a:ext cx="7360920" cy="530352"/>
          </a:xfrm>
          <a:prstGeom prst="roundRect">
            <a:avLst>
              <a:gd name="adj" fmla="val 20690"/>
            </a:avLst>
          </a:prstGeom>
          <a:solidFill>
            <a:srgbClr val="DDEEE4"/>
          </a:solidFill>
          <a:ln w="12700">
            <a:solidFill>
              <a:srgbClr val="3D7B58"/>
            </a:solidFill>
            <a:prstDash val="solid"/>
          </a:ln>
          <a:effectLst>
            <a:outerShdw blurRad="12700" dist="50800" dir="2700000" algn="bl" rotWithShape="0">
              <a:srgbClr val="B9B0AA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86384" y="38862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D7B58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API + Storage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404872" y="388620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11111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FastAPI REST APIs → SQLite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302252" y="4370832"/>
            <a:ext cx="0" cy="109728"/>
          </a:xfrm>
          <a:prstGeom prst="line">
            <a:avLst/>
          </a:prstGeom>
          <a:noFill/>
          <a:ln w="20320">
            <a:solidFill>
              <a:srgbClr val="8A807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21792" y="4480560"/>
            <a:ext cx="7360920" cy="530352"/>
          </a:xfrm>
          <a:prstGeom prst="roundRect">
            <a:avLst>
              <a:gd name="adj" fmla="val 20690"/>
            </a:avLst>
          </a:prstGeom>
          <a:solidFill>
            <a:srgbClr val="FBFAF8"/>
          </a:solidFill>
          <a:ln w="12700">
            <a:solidFill>
              <a:srgbClr val="3F3533"/>
            </a:solidFill>
            <a:prstDash val="solid"/>
          </a:ln>
          <a:effectLst>
            <a:outerShdw blurRad="12700" dist="50800" dir="2700000" algn="bl" rotWithShape="0">
              <a:srgbClr val="B9B0AA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86384" y="452628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F35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Web </a:t>
            </a:r>
            <a:r>
              <a:rPr lang="en-US" sz="1300" b="1" dirty="0">
                <a:solidFill>
                  <a:srgbClr val="3F3533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Dashboard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404872" y="452628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11111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React + TypeScript + Tailwind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275320" y="1920240"/>
            <a:ext cx="3227832" cy="3090672"/>
          </a:xfrm>
          <a:prstGeom prst="roundRect">
            <a:avLst>
              <a:gd name="adj" fmla="val 3550"/>
            </a:avLst>
          </a:prstGeom>
          <a:solidFill>
            <a:srgbClr val="FFFFFF"/>
          </a:solidFill>
          <a:ln w="12700">
            <a:solidFill>
              <a:srgbClr val="D8D1CA"/>
            </a:solidFill>
            <a:prstDash val="solid"/>
          </a:ln>
          <a:effectLst>
            <a:outerShdw blurRad="12700" dist="50800" dir="2700000" algn="bl" rotWithShape="0">
              <a:srgbClr val="B9B0AA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522208" y="21214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F35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Tech stack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522208" y="25786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56B66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Frontend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381744" y="25786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11111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React • TypeScript • Tailwind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522208" y="29626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56B66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Backend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9381744" y="29626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11111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Python • FastAPI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522208" y="33467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56B66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Scanner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9381744" y="33467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11111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Regex • Shannon entropy • context rules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522208" y="37307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56B66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Database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9381744" y="3730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11111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SQLite</a:t>
            </a:r>
            <a:r>
              <a:rPr lang="en-US" sz="1150" dirty="0">
                <a:solidFill>
                  <a:srgbClr val="1111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(</a:t>
            </a:r>
            <a:r>
              <a:rPr lang="en-US" sz="1150" dirty="0">
                <a:solidFill>
                  <a:srgbClr val="111111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MVP</a:t>
            </a:r>
            <a:r>
              <a:rPr lang="en-US" sz="1150" dirty="0">
                <a:solidFill>
                  <a:srgbClr val="1111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)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522208" y="411480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56B66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Git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9381744" y="4114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11111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Pre-commit hooks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8522208" y="44988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56B66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APIs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9381744" y="44988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11111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REST: /scan /findings /history /metrics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21792" y="526694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F35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Data flow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1508760" y="5212080"/>
            <a:ext cx="1965960" cy="566928"/>
          </a:xfrm>
          <a:prstGeom prst="roundRect">
            <a:avLst>
              <a:gd name="adj" fmla="val 19355"/>
            </a:avLst>
          </a:prstGeom>
          <a:solidFill>
            <a:srgbClr val="FBFAF8"/>
          </a:solidFill>
          <a:ln w="12700">
            <a:solidFill>
              <a:srgbClr val="3F3533"/>
            </a:solidFill>
            <a:prstDash val="solid"/>
          </a:ln>
          <a:effectLst>
            <a:outerShdw blurRad="12700" dist="50800" dir="2700000" algn="bl" rotWithShape="0">
              <a:srgbClr val="B9B0AA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1581912" y="526694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3F35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INPUT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148840" y="5266944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111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staged files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3474720" y="5495544"/>
            <a:ext cx="320040" cy="0"/>
          </a:xfrm>
          <a:prstGeom prst="line">
            <a:avLst/>
          </a:prstGeom>
          <a:noFill/>
          <a:ln w="20320">
            <a:solidFill>
              <a:srgbClr val="8A8078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3931920" y="5212080"/>
            <a:ext cx="1965960" cy="566928"/>
          </a:xfrm>
          <a:prstGeom prst="roundRect">
            <a:avLst>
              <a:gd name="adj" fmla="val 19355"/>
            </a:avLst>
          </a:prstGeom>
          <a:solidFill>
            <a:srgbClr val="FBFAF8"/>
          </a:solidFill>
          <a:ln w="12700">
            <a:solidFill>
              <a:srgbClr val="C73333"/>
            </a:solidFill>
            <a:prstDash val="solid"/>
          </a:ln>
          <a:effectLst>
            <a:outerShdw blurRad="12700" dist="50800" dir="2700000" algn="bl" rotWithShape="0">
              <a:srgbClr val="B9B0AA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005072" y="526694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C7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PROCESS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572000" y="5266944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111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detect + score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5897880" y="5495544"/>
            <a:ext cx="320040" cy="0"/>
          </a:xfrm>
          <a:prstGeom prst="line">
            <a:avLst/>
          </a:prstGeom>
          <a:noFill/>
          <a:ln w="20320">
            <a:solidFill>
              <a:srgbClr val="8A8078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6355080" y="5212080"/>
            <a:ext cx="1965960" cy="566928"/>
          </a:xfrm>
          <a:prstGeom prst="roundRect">
            <a:avLst>
              <a:gd name="adj" fmla="val 19355"/>
            </a:avLst>
          </a:prstGeom>
          <a:solidFill>
            <a:srgbClr val="FBFAF8"/>
          </a:solidFill>
          <a:ln w="12700">
            <a:solidFill>
              <a:srgbClr val="C6871F"/>
            </a:solidFill>
            <a:prstDash val="solid"/>
          </a:ln>
          <a:effectLst>
            <a:outerShdw blurRad="12700" dist="50800" dir="2700000" algn="bl" rotWithShape="0">
              <a:srgbClr val="B9B0AA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428232" y="526694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C6871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DECISION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995160" y="5266944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111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block / allow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8321040" y="5495544"/>
            <a:ext cx="320040" cy="0"/>
          </a:xfrm>
          <a:prstGeom prst="line">
            <a:avLst/>
          </a:prstGeom>
          <a:noFill/>
          <a:ln w="20320">
            <a:solidFill>
              <a:srgbClr val="8A8078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8778240" y="5212080"/>
            <a:ext cx="1965960" cy="566928"/>
          </a:xfrm>
          <a:prstGeom prst="roundRect">
            <a:avLst>
              <a:gd name="adj" fmla="val 19355"/>
            </a:avLst>
          </a:prstGeom>
          <a:solidFill>
            <a:srgbClr val="FBFAF8"/>
          </a:solidFill>
          <a:ln w="12700">
            <a:solidFill>
              <a:srgbClr val="3F3533"/>
            </a:solidFill>
            <a:prstDash val="solid"/>
          </a:ln>
          <a:effectLst>
            <a:outerShdw blurRad="12700" dist="50800" dir="2700000" algn="bl" rotWithShape="0">
              <a:srgbClr val="B9B0AA">
                <a:alpha val="12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8851392" y="526694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3F35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OUTPUT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9418320" y="5266944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111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finding + metric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621792" y="596188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756B6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 model is required for core detection. AI, if enabled, is only used to explain risk and remediation.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21792" y="651967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756B6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PITCHER PERFECT • SECRET SENTINEL</a:t>
            </a:r>
            <a:endParaRPr lang="en-US" sz="850" dirty="0"/>
          </a:p>
        </p:txBody>
      </p:sp>
      <p:sp>
        <p:nvSpPr>
          <p:cNvPr id="5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6F69"/>
                </a:solidFill>
                <a:latin typeface="Lato"/>
                <a:ea typeface="Lato"/>
                <a:cs typeface="Lato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840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60" dirty="0">
                <a:solidFill>
                  <a:srgbClr val="3F3533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04 • INNOVATION &amp; NOVELTY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21792" y="71323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dirty="0">
                <a:solidFill>
                  <a:srgbClr val="111111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From “secret found” to “exposure understood”</a:t>
            </a: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21792" y="129844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756B66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The core novelty is the combination of prevention + context + exposure intelligence in one developer workflow.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937760" y="2971800"/>
            <a:ext cx="1737360" cy="1737360"/>
          </a:xfrm>
          <a:prstGeom prst="ellipse">
            <a:avLst/>
          </a:prstGeom>
          <a:solidFill>
            <a:srgbClr val="3F3533"/>
          </a:solidFill>
          <a:ln w="12700">
            <a:solidFill>
              <a:srgbClr val="3F35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65192" y="3493008"/>
            <a:ext cx="16824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EXPOSURE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INTELLIGENCE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103120"/>
            <a:ext cx="2148840" cy="749808"/>
          </a:xfrm>
          <a:prstGeom prst="roundRect">
            <a:avLst>
              <a:gd name="adj" fmla="val 14634"/>
            </a:avLst>
          </a:prstGeom>
          <a:solidFill>
            <a:srgbClr val="DDEEE4"/>
          </a:solidFill>
          <a:ln w="12700">
            <a:solidFill>
              <a:srgbClr val="3D7B58"/>
            </a:solidFill>
            <a:prstDash val="solid"/>
          </a:ln>
          <a:effectLst>
            <a:outerShdw blurRad="12700" dist="50800" dir="2700000" algn="bl" rotWithShape="0">
              <a:srgbClr val="B9B0A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221992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11111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Secret DNA</a:t>
            </a:r>
            <a:endParaRPr lang="en-US" sz="12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20" b="1" dirty="0">
                <a:solidFill>
                  <a:srgbClr val="111111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privacy-preserving fingerprint</a:t>
            </a:r>
            <a:endParaRPr lang="en-US" sz="12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063240" y="2478024"/>
            <a:ext cx="1901952" cy="1362456"/>
          </a:xfrm>
          <a:prstGeom prst="line">
            <a:avLst/>
          </a:prstGeom>
          <a:noFill/>
          <a:ln w="12700">
            <a:solidFill>
              <a:srgbClr val="3D7B5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950208"/>
            <a:ext cx="2148840" cy="749808"/>
          </a:xfrm>
          <a:prstGeom prst="roundRect">
            <a:avLst>
              <a:gd name="adj" fmla="val 14634"/>
            </a:avLst>
          </a:prstGeom>
          <a:solidFill>
            <a:srgbClr val="F5D8D8"/>
          </a:solidFill>
          <a:ln w="12700">
            <a:solidFill>
              <a:srgbClr val="C73333"/>
            </a:solidFill>
            <a:prstDash val="solid"/>
          </a:ln>
          <a:effectLst>
            <a:outerShdw blurRad="12700" dist="50800" dir="2700000" algn="bl" rotWithShape="0">
              <a:srgbClr val="B9B0AA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406908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11111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Exposure timeline</a:t>
            </a:r>
            <a:endParaRPr lang="en-US" sz="12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20" b="1" dirty="0">
                <a:solidFill>
                  <a:srgbClr val="111111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current vs historical</a:t>
            </a:r>
            <a:endParaRPr lang="en-US" sz="12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063240" y="4325112"/>
            <a:ext cx="1901952" cy="0"/>
          </a:xfrm>
          <a:prstGeom prst="line">
            <a:avLst/>
          </a:prstGeom>
          <a:noFill/>
          <a:ln w="12700">
            <a:solidFill>
              <a:srgbClr val="C7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58200" y="2103120"/>
            <a:ext cx="2148840" cy="749808"/>
          </a:xfrm>
          <a:prstGeom prst="roundRect">
            <a:avLst>
              <a:gd name="adj" fmla="val 14634"/>
            </a:avLst>
          </a:prstGeom>
          <a:solidFill>
            <a:srgbClr val="F4E9CF"/>
          </a:solidFill>
          <a:ln w="12700">
            <a:solidFill>
              <a:srgbClr val="C6871F"/>
            </a:solidFill>
            <a:prstDash val="solid"/>
          </a:ln>
          <a:effectLst>
            <a:outerShdw blurRad="12700" dist="50800" dir="2700000" algn="bl" rotWithShape="0">
              <a:srgbClr val="B9B0A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58200" y="2221992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11111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Risk ≠ confidence</a:t>
            </a:r>
            <a:endParaRPr lang="en-US" sz="12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20" b="1" dirty="0">
                <a:solidFill>
                  <a:srgbClr val="111111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separate decision signals</a:t>
            </a:r>
            <a:endParaRPr lang="en-US" sz="12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458200" y="2478024"/>
            <a:ext cx="0" cy="1362456"/>
          </a:xfrm>
          <a:prstGeom prst="line">
            <a:avLst/>
          </a:prstGeom>
          <a:noFill/>
          <a:ln w="12700">
            <a:solidFill>
              <a:srgbClr val="C6871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58200" y="3950208"/>
            <a:ext cx="2148840" cy="749808"/>
          </a:xfrm>
          <a:prstGeom prst="roundRect">
            <a:avLst>
              <a:gd name="adj" fmla="val 14634"/>
            </a:avLst>
          </a:prstGeom>
          <a:solidFill>
            <a:srgbClr val="ECE7E2"/>
          </a:solidFill>
          <a:ln w="12700">
            <a:solidFill>
              <a:srgbClr val="3F3533"/>
            </a:solidFill>
            <a:prstDash val="solid"/>
          </a:ln>
          <a:effectLst>
            <a:outerShdw blurRad="12700" dist="50800" dir="2700000" algn="bl" rotWithShape="0">
              <a:srgbClr val="B9B0AA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58200" y="406908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11111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Blast radius</a:t>
            </a:r>
            <a:endParaRPr lang="en-US" sz="12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20" b="1" dirty="0">
                <a:solidFill>
                  <a:srgbClr val="111111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static impact estimate</a:t>
            </a:r>
            <a:endParaRPr lang="en-US" sz="12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458200" y="4325112"/>
            <a:ext cx="0" cy="0"/>
          </a:xfrm>
          <a:prstGeom prst="line">
            <a:avLst/>
          </a:prstGeom>
          <a:noFill/>
          <a:ln w="12700">
            <a:solidFill>
              <a:srgbClr val="3F35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03320" y="4983480"/>
            <a:ext cx="2148840" cy="749808"/>
          </a:xfrm>
          <a:prstGeom prst="roundRect">
            <a:avLst>
              <a:gd name="adj" fmla="val 14634"/>
            </a:avLst>
          </a:prstGeom>
          <a:solidFill>
            <a:srgbClr val="ECE7E2"/>
          </a:solidFill>
          <a:ln w="12700">
            <a:solidFill>
              <a:srgbClr val="3F3533"/>
            </a:solidFill>
            <a:prstDash val="solid"/>
          </a:ln>
          <a:effectLst>
            <a:outerShdw blurRad="12700" dist="50800" dir="2700000" algn="bl" rotWithShape="0">
              <a:srgbClr val="B9B0AA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703320" y="5102352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11111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Intent</a:t>
            </a:r>
            <a:endParaRPr lang="en-US" sz="12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20" b="1" dirty="0">
                <a:solidFill>
                  <a:srgbClr val="111111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likely live / test / placeholder</a:t>
            </a:r>
            <a:endParaRPr lang="en-US" sz="12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852160" y="5358384"/>
            <a:ext cx="0" cy="0"/>
          </a:xfrm>
          <a:prstGeom prst="line">
            <a:avLst/>
          </a:prstGeom>
          <a:noFill/>
          <a:ln w="12700">
            <a:solidFill>
              <a:srgbClr val="3F35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46520" y="4983480"/>
            <a:ext cx="2148840" cy="749808"/>
          </a:xfrm>
          <a:prstGeom prst="roundRect">
            <a:avLst>
              <a:gd name="adj" fmla="val 14634"/>
            </a:avLst>
          </a:prstGeom>
          <a:solidFill>
            <a:srgbClr val="DDEEE4"/>
          </a:solidFill>
          <a:ln w="12700">
            <a:solidFill>
              <a:srgbClr val="3D7B58"/>
            </a:solidFill>
            <a:prstDash val="solid"/>
          </a:ln>
          <a:effectLst>
            <a:outerShdw blurRad="12700" dist="50800" dir="2700000" algn="bl" rotWithShape="0">
              <a:srgbClr val="B9B0AA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46520" y="5102352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11111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Adaptive</a:t>
            </a:r>
            <a:r>
              <a:rPr lang="en-US" sz="1220" b="1" dirty="0">
                <a:solidFill>
                  <a:srgbClr val="1111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rules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1111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organization-specific patterns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6446520" y="5358384"/>
            <a:ext cx="228600" cy="0"/>
          </a:xfrm>
          <a:prstGeom prst="line">
            <a:avLst/>
          </a:prstGeom>
          <a:noFill/>
          <a:ln w="12700">
            <a:solidFill>
              <a:srgbClr val="3D7B5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5980176"/>
            <a:ext cx="9509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30" b="1" dirty="0">
                <a:solidFill>
                  <a:srgbClr val="3F3533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Existing tools often answer “is this a secret?”</a:t>
            </a:r>
            <a:endParaRPr lang="en-US" sz="13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330" b="1" dirty="0">
                <a:solidFill>
                  <a:srgbClr val="3F3533"/>
                </a:solidFill>
                <a:latin typeface="Times New Roman" panose="02020603050405020304" pitchFamily="18" charset="0"/>
                <a:ea typeface="Lato" pitchFamily="34" charset="-122"/>
                <a:cs typeface="Times New Roman" panose="02020603050405020304" pitchFamily="18" charset="0"/>
              </a:rPr>
              <a:t>We add: “How confident? How exposed? What else is affected? What should happen next?”</a:t>
            </a:r>
            <a:endParaRPr lang="en-US" sz="13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028432" y="4645152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56B6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 patent claimed for the prototype. The novelty is the workflow and explainable combination of proven detection signals.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1792" y="651967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756B6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PITCHER PERFECT • SECRET SENTINEL</a:t>
            </a:r>
            <a:endParaRPr lang="en-US" sz="85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6F69"/>
                </a:solidFill>
                <a:latin typeface="Lato"/>
                <a:ea typeface="Lato"/>
                <a:cs typeface="Lato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840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60" dirty="0">
                <a:solidFill>
                  <a:srgbClr val="3F35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05 • FEASIBILITY &amp; VIABILITY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71323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dirty="0">
                <a:solidFill>
                  <a:srgbClr val="1111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Yes — an MVP can be built in 36 hours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21792" y="129844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756B6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We are deliberately using open-source components and keeping advanced enterprise features optional.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" y="19019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F35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36-hour build plan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76656" y="2359152"/>
            <a:ext cx="1847088" cy="932688"/>
          </a:xfrm>
          <a:prstGeom prst="roundRect">
            <a:avLst>
              <a:gd name="adj" fmla="val 11765"/>
            </a:avLst>
          </a:prstGeom>
          <a:solidFill>
            <a:srgbClr val="FBFAF8"/>
          </a:solidFill>
          <a:ln w="12700">
            <a:solidFill>
              <a:srgbClr val="3F3533"/>
            </a:solidFill>
            <a:prstDash val="solid"/>
          </a:ln>
          <a:effectLst>
            <a:outerShdw blurRad="12700" dist="50800" dir="2700000" algn="bl" rotWithShape="0">
              <a:srgbClr val="B9B0AA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68096" y="245973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F35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0–8h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53896" y="2432304"/>
            <a:ext cx="932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1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Scanner +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111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rules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523744" y="2825496"/>
            <a:ext cx="265176" cy="0"/>
          </a:xfrm>
          <a:prstGeom prst="line">
            <a:avLst/>
          </a:prstGeom>
          <a:noFill/>
          <a:ln w="20320">
            <a:solidFill>
              <a:srgbClr val="8A807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43784" y="2359152"/>
            <a:ext cx="1847088" cy="932688"/>
          </a:xfrm>
          <a:prstGeom prst="roundRect">
            <a:avLst>
              <a:gd name="adj" fmla="val 11765"/>
            </a:avLst>
          </a:prstGeom>
          <a:solidFill>
            <a:srgbClr val="FBFAF8"/>
          </a:solidFill>
          <a:ln w="12700">
            <a:solidFill>
              <a:srgbClr val="C73333"/>
            </a:solidFill>
            <a:prstDash val="solid"/>
          </a:ln>
          <a:effectLst>
            <a:outerShdw blurRad="12700" dist="50800" dir="2700000" algn="bl" rotWithShape="0">
              <a:srgbClr val="B9B0AA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935224" y="245973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7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8–16h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21024" y="2432304"/>
            <a:ext cx="932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1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Pre-commit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111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blocking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90872" y="2825496"/>
            <a:ext cx="265176" cy="0"/>
          </a:xfrm>
          <a:prstGeom prst="line">
            <a:avLst/>
          </a:prstGeom>
          <a:noFill/>
          <a:ln w="20320">
            <a:solidFill>
              <a:srgbClr val="8A807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010912" y="2359152"/>
            <a:ext cx="1847088" cy="932688"/>
          </a:xfrm>
          <a:prstGeom prst="roundRect">
            <a:avLst>
              <a:gd name="adj" fmla="val 11765"/>
            </a:avLst>
          </a:prstGeom>
          <a:solidFill>
            <a:srgbClr val="FBFAF8"/>
          </a:solidFill>
          <a:ln w="12700">
            <a:solidFill>
              <a:srgbClr val="C6871F"/>
            </a:solidFill>
            <a:prstDash val="solid"/>
          </a:ln>
          <a:effectLst>
            <a:outerShdw blurRad="12700" dist="50800" dir="2700000" algn="bl" rotWithShape="0">
              <a:srgbClr val="B9B0AA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102352" y="245973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6871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16–24h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788152" y="2432304"/>
            <a:ext cx="932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1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API +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111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database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58000" y="2825496"/>
            <a:ext cx="265176" cy="0"/>
          </a:xfrm>
          <a:prstGeom prst="line">
            <a:avLst/>
          </a:prstGeom>
          <a:noFill/>
          <a:ln w="20320">
            <a:solidFill>
              <a:srgbClr val="8A807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178040" y="2359152"/>
            <a:ext cx="1847088" cy="932688"/>
          </a:xfrm>
          <a:prstGeom prst="roundRect">
            <a:avLst>
              <a:gd name="adj" fmla="val 11765"/>
            </a:avLst>
          </a:prstGeom>
          <a:solidFill>
            <a:srgbClr val="FBFAF8"/>
          </a:solidFill>
          <a:ln w="12700">
            <a:solidFill>
              <a:srgbClr val="3D7B58"/>
            </a:solidFill>
            <a:prstDash val="solid"/>
          </a:ln>
          <a:effectLst>
            <a:outerShdw blurRad="12700" dist="50800" dir="2700000" algn="bl" rotWithShape="0">
              <a:srgbClr val="B9B0AA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69480" y="245973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D7B5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24–32h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955280" y="2432304"/>
            <a:ext cx="932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1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Dashboard +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111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history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025128" y="2825496"/>
            <a:ext cx="265176" cy="0"/>
          </a:xfrm>
          <a:prstGeom prst="line">
            <a:avLst/>
          </a:prstGeom>
          <a:noFill/>
          <a:ln w="20320">
            <a:solidFill>
              <a:srgbClr val="8A807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345168" y="2359152"/>
            <a:ext cx="1847088" cy="932688"/>
          </a:xfrm>
          <a:prstGeom prst="roundRect">
            <a:avLst>
              <a:gd name="adj" fmla="val 11765"/>
            </a:avLst>
          </a:prstGeom>
          <a:solidFill>
            <a:srgbClr val="FBFAF8"/>
          </a:solidFill>
          <a:ln w="12700">
            <a:solidFill>
              <a:srgbClr val="3F3533"/>
            </a:solidFill>
            <a:prstDash val="solid"/>
          </a:ln>
          <a:effectLst>
            <a:outerShdw blurRad="12700" dist="50800" dir="2700000" algn="bl" rotWithShape="0">
              <a:srgbClr val="B9B0AA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436608" y="245973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F35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32–36h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122408" y="2432304"/>
            <a:ext cx="932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1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Tests +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111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deploy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3639312"/>
            <a:ext cx="50749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D1CA"/>
            </a:solidFill>
            <a:prstDash val="solid"/>
          </a:ln>
          <a:effectLst>
            <a:outerShdw blurRad="12700" dist="50800" dir="2700000" algn="bl" rotWithShape="0">
              <a:srgbClr val="B9B0AA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86968" y="38404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F35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Resources required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28116" y="4293108"/>
            <a:ext cx="64008" cy="64008"/>
          </a:xfrm>
          <a:prstGeom prst="ellipse">
            <a:avLst/>
          </a:prstGeom>
          <a:solidFill>
            <a:srgbClr val="3F3533"/>
          </a:solidFill>
          <a:ln w="12700">
            <a:solidFill>
              <a:srgbClr val="3F35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0704" y="42245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3F35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Free/open-source: Python, FastAPI, React, SQLite, Git</a:t>
            </a:r>
            <a:endParaRPr lang="en-US" sz="1280" dirty="0"/>
          </a:p>
        </p:txBody>
      </p:sp>
      <p:sp>
        <p:nvSpPr>
          <p:cNvPr id="29" name="Shape 27"/>
          <p:cNvSpPr/>
          <p:nvPr/>
        </p:nvSpPr>
        <p:spPr>
          <a:xfrm>
            <a:off x="928116" y="4649724"/>
            <a:ext cx="64008" cy="64008"/>
          </a:xfrm>
          <a:prstGeom prst="ellipse">
            <a:avLst/>
          </a:prstGeom>
          <a:solidFill>
            <a:srgbClr val="3F3533"/>
          </a:solidFill>
          <a:ln w="12700">
            <a:solidFill>
              <a:srgbClr val="3F35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60704" y="458114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3F35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 paid API required for core detection</a:t>
            </a:r>
            <a:endParaRPr lang="en-US" sz="1280" dirty="0"/>
          </a:p>
        </p:txBody>
      </p:sp>
      <p:sp>
        <p:nvSpPr>
          <p:cNvPr id="31" name="Shape 29"/>
          <p:cNvSpPr/>
          <p:nvPr/>
        </p:nvSpPr>
        <p:spPr>
          <a:xfrm>
            <a:off x="928116" y="5006340"/>
            <a:ext cx="64008" cy="64008"/>
          </a:xfrm>
          <a:prstGeom prst="ellipse">
            <a:avLst/>
          </a:prstGeom>
          <a:solidFill>
            <a:srgbClr val="3F3533"/>
          </a:solidFill>
          <a:ln w="12700">
            <a:solidFill>
              <a:srgbClr val="3F35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60704" y="493776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3F35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Optional LLM for explanations only</a:t>
            </a:r>
            <a:endParaRPr lang="en-US" sz="1280" dirty="0"/>
          </a:p>
        </p:txBody>
      </p:sp>
      <p:sp>
        <p:nvSpPr>
          <p:cNvPr id="33" name="Shape 31"/>
          <p:cNvSpPr/>
          <p:nvPr/>
        </p:nvSpPr>
        <p:spPr>
          <a:xfrm>
            <a:off x="5989320" y="3639312"/>
            <a:ext cx="5422392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D1CA"/>
            </a:solidFill>
            <a:prstDash val="solid"/>
          </a:ln>
          <a:effectLst>
            <a:outerShdw blurRad="12700" dist="50800" dir="2700000" algn="bl" rotWithShape="0">
              <a:srgbClr val="B9B0AA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236208" y="38404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F35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How we scale to 1000× usage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36208" y="4215384"/>
            <a:ext cx="658368" cy="310896"/>
          </a:xfrm>
          <a:prstGeom prst="roundRect">
            <a:avLst>
              <a:gd name="adj" fmla="val 23529"/>
            </a:avLst>
          </a:prstGeom>
          <a:solidFill>
            <a:srgbClr val="3F3533"/>
          </a:solidFill>
          <a:ln w="12700">
            <a:solidFill>
              <a:srgbClr val="3F3533"/>
            </a:solidFill>
            <a:prstDash val="solid"/>
          </a:ln>
          <a:effectLst>
            <a:outerShdw blurRad="12700" dist="50800" dir="2700000" algn="bl" rotWithShape="0">
              <a:srgbClr val="B9B0AA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236208" y="422452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NOW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040880" y="421538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single FastAPI service + SQLite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236208" y="4599432"/>
            <a:ext cx="658368" cy="310896"/>
          </a:xfrm>
          <a:prstGeom prst="roundRect">
            <a:avLst>
              <a:gd name="adj" fmla="val 23529"/>
            </a:avLst>
          </a:prstGeom>
          <a:solidFill>
            <a:srgbClr val="C6871F"/>
          </a:solidFill>
          <a:ln w="12700">
            <a:solidFill>
              <a:srgbClr val="C6871F"/>
            </a:solidFill>
            <a:prstDash val="solid"/>
          </a:ln>
          <a:effectLst>
            <a:outerShdw blurRad="12700" dist="50800" dir="2700000" algn="bl" rotWithShape="0">
              <a:srgbClr val="B9B0AA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236208" y="460857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NEXT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040880" y="459943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PostgreSQL + worker queue for large scans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236208" y="4983480"/>
            <a:ext cx="658368" cy="310896"/>
          </a:xfrm>
          <a:prstGeom prst="roundRect">
            <a:avLst>
              <a:gd name="adj" fmla="val 23529"/>
            </a:avLst>
          </a:prstGeom>
          <a:solidFill>
            <a:srgbClr val="3D7B58"/>
          </a:solidFill>
          <a:ln w="12700">
            <a:solidFill>
              <a:srgbClr val="3D7B58"/>
            </a:solidFill>
            <a:prstDash val="solid"/>
          </a:ln>
          <a:effectLst>
            <a:outerShdw blurRad="12700" dist="50800" dir="2700000" algn="bl" rotWithShape="0">
              <a:srgbClr val="B9B0AA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236208" y="499262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LATER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040880" y="498348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horizontal API scaling + object storage + CDN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40080" y="587044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C7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Honest scope: the 36-hour goal is a reliable prototype, not a full enterprise secrets-management platform.</a:t>
            </a:r>
            <a:endParaRPr lang="en-US" sz="1260" dirty="0"/>
          </a:p>
        </p:txBody>
      </p:sp>
      <p:sp>
        <p:nvSpPr>
          <p:cNvPr id="45" name="Text 43"/>
          <p:cNvSpPr/>
          <p:nvPr/>
        </p:nvSpPr>
        <p:spPr>
          <a:xfrm>
            <a:off x="621792" y="651967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756B6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PITCHER PERFECT • SECRET SENTINEL</a:t>
            </a:r>
            <a:endParaRPr lang="en-US" sz="85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6F69"/>
                </a:solidFill>
                <a:latin typeface="Lato"/>
                <a:ea typeface="Lato"/>
                <a:cs typeface="Lato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840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60" dirty="0">
                <a:solidFill>
                  <a:srgbClr val="3F35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06 • IMPACT &amp; BENEFITS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71323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dirty="0">
                <a:solidFill>
                  <a:srgbClr val="1111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Prevent first. Measure later. Improve continuously.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21792" y="129844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756B6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product turns a hidden developer mistake into a visible, trackable security event.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" y="1993392"/>
            <a:ext cx="1920240" cy="2029968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D1CA"/>
            </a:solidFill>
            <a:prstDash val="solid"/>
          </a:ln>
          <a:effectLst>
            <a:outerShdw blurRad="12700" dist="50800" dir="2700000" algn="bl" rotWithShape="0">
              <a:srgbClr val="B9B0A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21284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40" dirty="0">
                <a:solidFill>
                  <a:srgbClr val="C7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DEVELOPERS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22960" y="2615184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111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Faster fixes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3090672"/>
            <a:ext cx="15727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756B6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Immediate terminal feedback instead of discovering a leak after a push.</a:t>
            </a:r>
            <a:endParaRPr lang="en-US" sz="1170" dirty="0"/>
          </a:p>
        </p:txBody>
      </p:sp>
      <p:sp>
        <p:nvSpPr>
          <p:cNvPr id="9" name="Shape 7"/>
          <p:cNvSpPr/>
          <p:nvPr/>
        </p:nvSpPr>
        <p:spPr>
          <a:xfrm>
            <a:off x="2834640" y="1993392"/>
            <a:ext cx="1920240" cy="2029968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D1CA"/>
            </a:solidFill>
            <a:prstDash val="solid"/>
          </a:ln>
          <a:effectLst>
            <a:outerShdw blurRad="12700" dist="50800" dir="2700000" algn="bl" rotWithShape="0">
              <a:srgbClr val="B9B0A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99232" y="221284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40" dirty="0">
                <a:solidFill>
                  <a:srgbClr val="C6871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SECURITY TEAMS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999232" y="2615184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111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Less blind spot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999232" y="3090672"/>
            <a:ext cx="15727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756B6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One place to see findings, history, exposure and remediation status.</a:t>
            </a:r>
            <a:endParaRPr lang="en-US" sz="1170" dirty="0"/>
          </a:p>
        </p:txBody>
      </p:sp>
      <p:sp>
        <p:nvSpPr>
          <p:cNvPr id="13" name="Shape 11"/>
          <p:cNvSpPr/>
          <p:nvPr/>
        </p:nvSpPr>
        <p:spPr>
          <a:xfrm>
            <a:off x="5010912" y="1993392"/>
            <a:ext cx="1920240" cy="2029968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D1CA"/>
            </a:solidFill>
            <a:prstDash val="solid"/>
          </a:ln>
          <a:effectLst>
            <a:outerShdw blurRad="12700" dist="50800" dir="2700000" algn="bl" rotWithShape="0">
              <a:srgbClr val="B9B0A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75504" y="221284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40" dirty="0">
                <a:solidFill>
                  <a:srgbClr val="3D7B5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DEVOPS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175504" y="2615184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111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Shift left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5175504" y="3090672"/>
            <a:ext cx="15727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756B6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Security checks run inside the normal Git workflow.</a:t>
            </a:r>
            <a:endParaRPr lang="en-US" sz="1170" dirty="0"/>
          </a:p>
        </p:txBody>
      </p:sp>
      <p:sp>
        <p:nvSpPr>
          <p:cNvPr id="17" name="Shape 15"/>
          <p:cNvSpPr/>
          <p:nvPr/>
        </p:nvSpPr>
        <p:spPr>
          <a:xfrm>
            <a:off x="7187184" y="1993392"/>
            <a:ext cx="1920240" cy="2029968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D1CA"/>
            </a:solidFill>
            <a:prstDash val="solid"/>
          </a:ln>
          <a:effectLst>
            <a:outerShdw blurRad="12700" dist="50800" dir="2700000" algn="bl" rotWithShape="0">
              <a:srgbClr val="B9B0AA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51776" y="221284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40" dirty="0">
                <a:solidFill>
                  <a:srgbClr val="3F35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LEADERS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351776" y="2615184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111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Measurable risk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7351776" y="3090672"/>
            <a:ext cx="15727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756B6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Track blocked commits, unresolved findings and security trends.</a:t>
            </a:r>
            <a:endParaRPr lang="en-US" sz="1170" dirty="0"/>
          </a:p>
        </p:txBody>
      </p:sp>
      <p:sp>
        <p:nvSpPr>
          <p:cNvPr id="21" name="Shape 19"/>
          <p:cNvSpPr/>
          <p:nvPr/>
        </p:nvSpPr>
        <p:spPr>
          <a:xfrm>
            <a:off x="9418320" y="1993392"/>
            <a:ext cx="1993392" cy="2029968"/>
          </a:xfrm>
          <a:prstGeom prst="roundRect">
            <a:avLst>
              <a:gd name="adj" fmla="val 5505"/>
            </a:avLst>
          </a:prstGeom>
          <a:solidFill>
            <a:srgbClr val="FBFAF8"/>
          </a:solidFill>
          <a:ln w="12700">
            <a:solidFill>
              <a:srgbClr val="3F3533"/>
            </a:solidFill>
            <a:prstDash val="solid"/>
          </a:ln>
          <a:effectLst>
            <a:outerShdw blurRad="12700" dist="50800" dir="2700000" algn="bl" rotWithShape="0">
              <a:srgbClr val="B9B0AA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637776" y="221284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3F35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METRICS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637776" y="261518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1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Blocked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111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commits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561320" y="2615184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1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Prevented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111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findings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637776" y="328269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1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Resolved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111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findings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561320" y="3282696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1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Exposure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111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trend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58368" y="4352544"/>
            <a:ext cx="5212080" cy="1325880"/>
          </a:xfrm>
          <a:prstGeom prst="roundRect">
            <a:avLst>
              <a:gd name="adj" fmla="val 8276"/>
            </a:avLst>
          </a:prstGeom>
          <a:solidFill>
            <a:srgbClr val="F5D8D8"/>
          </a:solidFill>
          <a:ln w="12700">
            <a:solidFill>
              <a:srgbClr val="C73333"/>
            </a:solidFill>
            <a:prstDash val="solid"/>
          </a:ln>
          <a:effectLst>
            <a:outerShdw blurRad="12700" dist="50800" dir="2700000" algn="bl" rotWithShape="0">
              <a:srgbClr val="B9B0AA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32688" y="455371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50" dirty="0">
                <a:solidFill>
                  <a:srgbClr val="C7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32688" y="4873752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F35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28.65M new hardcoded secrets were detected in public GitHub commits in 2025.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32688" y="535838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756B6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GitGuardian, State of Secrets Sprawl 2026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108192" y="4352544"/>
            <a:ext cx="53035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8D1CA"/>
            </a:solidFill>
            <a:prstDash val="solid"/>
          </a:ln>
          <a:effectLst>
            <a:outerShdw blurRad="12700" dist="50800" dir="2700000" algn="bl" rotWithShape="0">
              <a:srgbClr val="B9B0AA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382512" y="45537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50" dirty="0">
                <a:solidFill>
                  <a:srgbClr val="3F35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SDG ALIGNMENT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382512" y="4901184"/>
            <a:ext cx="841248" cy="310896"/>
          </a:xfrm>
          <a:prstGeom prst="roundRect">
            <a:avLst>
              <a:gd name="adj" fmla="val 23529"/>
            </a:avLst>
          </a:prstGeom>
          <a:solidFill>
            <a:srgbClr val="3F3533"/>
          </a:solidFill>
          <a:ln w="12700">
            <a:solidFill>
              <a:srgbClr val="3F3533"/>
            </a:solidFill>
            <a:prstDash val="solid"/>
          </a:ln>
          <a:effectLst>
            <a:outerShdw blurRad="12700" dist="50800" dir="2700000" algn="bl" rotWithShape="0">
              <a:srgbClr val="B9B0AA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382512" y="491032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SDG 9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388352" y="490118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111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Industry, Innovation &amp; Infrastructure</a:t>
            </a:r>
            <a:endParaRPr lang="en-US" sz="1220" dirty="0"/>
          </a:p>
        </p:txBody>
      </p:sp>
      <p:sp>
        <p:nvSpPr>
          <p:cNvPr id="36" name="Shape 34"/>
          <p:cNvSpPr/>
          <p:nvPr/>
        </p:nvSpPr>
        <p:spPr>
          <a:xfrm>
            <a:off x="6382512" y="5248656"/>
            <a:ext cx="841248" cy="310896"/>
          </a:xfrm>
          <a:prstGeom prst="roundRect">
            <a:avLst>
              <a:gd name="adj" fmla="val 23529"/>
            </a:avLst>
          </a:prstGeom>
          <a:solidFill>
            <a:srgbClr val="3D7B58"/>
          </a:solidFill>
          <a:ln w="12700">
            <a:solidFill>
              <a:srgbClr val="3D7B58"/>
            </a:solidFill>
            <a:prstDash val="solid"/>
          </a:ln>
          <a:effectLst>
            <a:outerShdw blurRad="12700" dist="50800" dir="2700000" algn="bl" rotWithShape="0">
              <a:srgbClr val="B9B0AA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382512" y="525780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SDG 16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388352" y="524865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111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Safer digital systems &amp; institutions</a:t>
            </a:r>
            <a:endParaRPr lang="en-US" sz="1220" dirty="0"/>
          </a:p>
        </p:txBody>
      </p:sp>
      <p:sp>
        <p:nvSpPr>
          <p:cNvPr id="39" name="Text 37"/>
          <p:cNvSpPr/>
          <p:nvPr/>
        </p:nvSpPr>
        <p:spPr>
          <a:xfrm>
            <a:off x="621792" y="651967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756B6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PITCHER PERFECT • SECRET SENTINEL</a:t>
            </a:r>
            <a:endParaRPr lang="en-US" sz="85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6F69"/>
                </a:solidFill>
                <a:latin typeface="Lato"/>
                <a:ea typeface="Lato"/>
                <a:cs typeface="Lato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840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60" dirty="0">
                <a:solidFill>
                  <a:srgbClr val="3F35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07 • PROTOTYPE / DEMO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71323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dirty="0">
                <a:solidFill>
                  <a:srgbClr val="1111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Live prototype goes here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21792" y="129844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756B6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Use this slide for your final screenshot, live URL, or a 60–90 second demo capture.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" y="2029968"/>
            <a:ext cx="10753344" cy="3584448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2700">
            <a:solidFill>
              <a:srgbClr val="CFC6BF"/>
            </a:solidFill>
            <a:prstDash val="solid"/>
          </a:ln>
          <a:effectLst>
            <a:outerShdw blurRad="12700" dist="50800" dir="2700000" algn="bl" rotWithShape="0">
              <a:srgbClr val="B9B0A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50976" y="2331720"/>
            <a:ext cx="10168128" cy="2971800"/>
          </a:xfrm>
          <a:prstGeom prst="roundRect">
            <a:avLst>
              <a:gd name="adj" fmla="val 3692"/>
            </a:avLst>
          </a:prstGeom>
          <a:solidFill>
            <a:srgbClr val="F5F2EE"/>
          </a:solidFill>
          <a:ln w="12700">
            <a:solidFill>
              <a:srgbClr val="D8D1CA"/>
            </a:solidFill>
            <a:prstDash val="solid"/>
          </a:ln>
          <a:effectLst>
            <a:outerShdw blurRad="12700" dist="50800" dir="2700000" algn="bl" rotWithShape="0">
              <a:srgbClr val="B9B0AA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70432" y="256032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F35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SECRET SENTINEL • DEMO WINDOW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97280" y="2999232"/>
            <a:ext cx="402336" cy="402336"/>
          </a:xfrm>
          <a:prstGeom prst="ellipse">
            <a:avLst/>
          </a:prstGeom>
          <a:solidFill>
            <a:srgbClr val="3F3533"/>
          </a:solidFill>
          <a:ln w="12700">
            <a:solidFill>
              <a:srgbClr val="3F35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97864" y="3044952"/>
            <a:ext cx="201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86968" y="352958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F35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SCAN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527048" y="3200400"/>
            <a:ext cx="1874520" cy="0"/>
          </a:xfrm>
          <a:prstGeom prst="line">
            <a:avLst/>
          </a:prstGeom>
          <a:noFill/>
          <a:ln w="12700">
            <a:solidFill>
              <a:srgbClr val="BFB5A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56432" y="2999232"/>
            <a:ext cx="402336" cy="402336"/>
          </a:xfrm>
          <a:prstGeom prst="ellipse">
            <a:avLst/>
          </a:prstGeom>
          <a:solidFill>
            <a:srgbClr val="C73333"/>
          </a:solidFill>
          <a:ln w="12700">
            <a:solidFill>
              <a:srgbClr val="C7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57016" y="3044952"/>
            <a:ext cx="201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46120" y="352958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F35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RISK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886200" y="3200400"/>
            <a:ext cx="1874520" cy="0"/>
          </a:xfrm>
          <a:prstGeom prst="line">
            <a:avLst/>
          </a:prstGeom>
          <a:noFill/>
          <a:ln w="12700">
            <a:solidFill>
              <a:srgbClr val="BFB5A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15584" y="2999232"/>
            <a:ext cx="402336" cy="402336"/>
          </a:xfrm>
          <a:prstGeom prst="ellipse">
            <a:avLst/>
          </a:prstGeom>
          <a:solidFill>
            <a:srgbClr val="C6871F"/>
          </a:solidFill>
          <a:ln w="12700">
            <a:solidFill>
              <a:srgbClr val="C687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16168" y="3044952"/>
            <a:ext cx="201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05272" y="352958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F35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BLOCK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45352" y="3200400"/>
            <a:ext cx="1874520" cy="0"/>
          </a:xfrm>
          <a:prstGeom prst="line">
            <a:avLst/>
          </a:prstGeom>
          <a:noFill/>
          <a:ln w="12700">
            <a:solidFill>
              <a:srgbClr val="BFB5A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74736" y="2999232"/>
            <a:ext cx="402336" cy="402336"/>
          </a:xfrm>
          <a:prstGeom prst="ellipse">
            <a:avLst/>
          </a:prstGeom>
          <a:solidFill>
            <a:srgbClr val="3D7B58"/>
          </a:solidFill>
          <a:ln w="12700">
            <a:solidFill>
              <a:srgbClr val="3D7B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75320" y="3044952"/>
            <a:ext cx="201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964424" y="352958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F35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TRACK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280160" y="404164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56B6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PASTE PROTOTYPE SCREENSHOT / LIVE URL HERE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234440" y="4663440"/>
            <a:ext cx="9281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F35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Recommended demo order: Scan code → show finding → attempt git commit → show block → fix → commit succeeds → dashboard updates.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58368" y="5907024"/>
            <a:ext cx="786384" cy="310896"/>
          </a:xfrm>
          <a:prstGeom prst="roundRect">
            <a:avLst>
              <a:gd name="adj" fmla="val 23529"/>
            </a:avLst>
          </a:prstGeom>
          <a:solidFill>
            <a:srgbClr val="3F3533"/>
          </a:solidFill>
          <a:ln w="12700">
            <a:solidFill>
              <a:srgbClr val="3F3533"/>
            </a:solidFill>
            <a:prstDash val="solid"/>
          </a:ln>
          <a:effectLst>
            <a:outerShdw blurRad="12700" dist="50800" dir="2700000" algn="bl" rotWithShape="0">
              <a:srgbClr val="B9B0AA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8368" y="5916168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DEMO TIP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581912" y="590702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756B6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Use synthetic credentials only; never paste a real API key into the presentation or demo repository.</a:t>
            </a:r>
            <a:endParaRPr lang="en-US" sz="1060" dirty="0"/>
          </a:p>
        </p:txBody>
      </p:sp>
      <p:sp>
        <p:nvSpPr>
          <p:cNvPr id="28" name="Text 26"/>
          <p:cNvSpPr/>
          <p:nvPr/>
        </p:nvSpPr>
        <p:spPr>
          <a:xfrm>
            <a:off x="621792" y="651967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756B6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PITCHER PERFECT • SECRET SENTINEL</a:t>
            </a:r>
            <a:endParaRPr lang="en-US" sz="8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6F69"/>
                </a:solidFill>
                <a:latin typeface="Lato"/>
                <a:ea typeface="Lato"/>
                <a:cs typeface="Lato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a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a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934</Words>
  <Application>Microsoft Office PowerPoint</Application>
  <PresentationFormat>Widescreen</PresentationFormat>
  <Paragraphs>233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\</vt:lpstr>
      <vt:lpstr>Arial</vt:lpstr>
      <vt:lpstr>Lato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Pitcher Perfect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Secret Sentinel</dc:title>
  <dc:subject>Secret Sentinel - Engineers Innovation Challenge</dc:subject>
  <dc:creator>Pitcher Perfect</dc:creator>
  <cp:lastModifiedBy>srivardhanmalyala284@gmail.com</cp:lastModifiedBy>
  <cp:revision>2</cp:revision>
  <dcterms:created xsi:type="dcterms:W3CDTF">2026-09-15T07:49:57Z</dcterms:created>
  <dcterms:modified xsi:type="dcterms:W3CDTF">2026-09-15T08:14:48Z</dcterms:modified>
</cp:coreProperties>
</file>